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700" b="1">
                <a:solidFill>
                  <a:srgbClr val="1A1A1A"/>
                </a:solidFill>
                <a:latin typeface="Arial"/>
              </a:rPr>
              <a:t>Problem Statement ID — SIH26129</a:t>
            </a:r>
            <a:endParaRPr lang="en-US" dirty="0"/>
          </a:p>
          <a:p>
            <a:r>
              <a:rPr sz="1700" b="1">
                <a:solidFill>
                  <a:srgbClr val="1A1A1A"/>
                </a:solidFill>
                <a:latin typeface="Arial"/>
              </a:rPr>
              <a:t>Problem Statement Title — System integration and interoperability among</a:t>
            </a:r>
          </a:p>
          <a:p>
            <a:r>
              <a:rPr sz="1700" b="1">
                <a:solidFill>
                  <a:srgbClr val="1A1A1A"/>
                </a:solidFill>
                <a:latin typeface="Arial"/>
              </a:rPr>
              <a:t>government digital platforms, resulting in fragmented service delivery</a:t>
            </a:r>
          </a:p>
          <a:p>
            <a:r>
              <a:rPr sz="1700" b="1">
                <a:solidFill>
                  <a:srgbClr val="1A1A1A"/>
                </a:solidFill>
                <a:latin typeface="Arial"/>
              </a:rPr>
              <a:t>Theme — Miscellaneous</a:t>
            </a:r>
          </a:p>
          <a:p>
            <a:r>
              <a:rPr sz="1700" b="1">
                <a:solidFill>
                  <a:srgbClr val="1A1A1A"/>
                </a:solidFill>
                <a:latin typeface="Arial"/>
              </a:rPr>
              <a:t>Organisation — Government of Maharashtra</a:t>
            </a:r>
          </a:p>
          <a:p>
            <a:r>
              <a:rPr sz="1700" b="1">
                <a:solidFill>
                  <a:srgbClr val="1A1A1A"/>
                </a:solidFill>
                <a:latin typeface="Arial"/>
              </a:rPr>
              <a:t>PS Category — Software</a:t>
            </a:r>
          </a:p>
          <a:p>
            <a:r>
              <a:rPr sz="1700" b="1">
                <a:solidFill>
                  <a:srgbClr val="1A1A1A"/>
                </a:solidFill>
                <a:latin typeface="Arial"/>
              </a:rPr>
              <a:t>Team ID — (fill from SIH portal after nomination)</a:t>
            </a:r>
          </a:p>
          <a:p>
            <a:r>
              <a:rPr sz="1700" b="1">
                <a:solidFill>
                  <a:srgbClr val="1A1A1A"/>
                </a:solidFill>
                <a:latin typeface="Arial"/>
              </a:rPr>
              <a:t>Team Name (Registered on portal) — Samanvay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 wrap="square"/>
          <a:lstStyle/>
          <a:p>
            <a:pPr eaLnBrk="1" hangingPunct="1"/>
            <a:r>
              <a:rPr sz="2200" b="1">
                <a:solidFill>
                  <a:srgbClr val="0B2E4A"/>
                </a:solidFill>
                <a:latin typeface="Arial"/>
              </a:rPr>
              <a:t>SAMANVAY — FEDERATED INTEROPERABILITY LAYER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0972800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E4A"/>
          </a:solidFill>
          <a:ln>
            <a:solidFill>
              <a:srgbClr val="0B2E4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Samanvay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11480" y="1115568"/>
            <a:ext cx="3566160" cy="1572768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Rectangle 15363"/>
          <p:cNvSpPr/>
          <p:nvPr/>
        </p:nvSpPr>
        <p:spPr>
          <a:xfrm>
            <a:off x="411480" y="1115568"/>
            <a:ext cx="109728" cy="1572768"/>
          </a:xfrm>
          <a:prstGeom prst="rect">
            <a:avLst/>
          </a:prstGeom>
          <a:solidFill>
            <a:srgbClr val="C45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612648" y="1207008"/>
            <a:ext cx="3291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Not a new portal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612648" y="1572768"/>
            <a:ext cx="32918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Sits between existing Maharashtra systems. Does not replace Aaple Sarkar, Mahabhulekh, MahaDBT, Fire e-approval or MPCB/MAITRI.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4142232" y="1115568"/>
            <a:ext cx="3566160" cy="1572768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Rectangle 15367"/>
          <p:cNvSpPr/>
          <p:nvPr/>
        </p:nvSpPr>
        <p:spPr>
          <a:xfrm>
            <a:off x="4142232" y="1115568"/>
            <a:ext cx="109728" cy="157276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TextBox 15368"/>
          <p:cNvSpPr txBox="1"/>
          <p:nvPr/>
        </p:nvSpPr>
        <p:spPr>
          <a:xfrm>
            <a:off x="4343400" y="1207008"/>
            <a:ext cx="3291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Does not store papers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343400" y="1572768"/>
            <a:ext cx="32918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Certificates stay with the issuer. Samanvay owns links, consent, catalog, pointers, workflow, tracking, hash-chained audit.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7872984" y="1115568"/>
            <a:ext cx="3566160" cy="1572768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Rectangle 15371"/>
          <p:cNvSpPr/>
          <p:nvPr/>
        </p:nvSpPr>
        <p:spPr>
          <a:xfrm>
            <a:off x="7872984" y="1115568"/>
            <a:ext cx="109728" cy="1572768"/>
          </a:xfrm>
          <a:prstGeom prst="rect">
            <a:avLst/>
          </a:prstGeom>
          <a:solidFill>
            <a:srgbClr val="0B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TextBox 15372"/>
          <p:cNvSpPr txBox="1"/>
          <p:nvPr/>
        </p:nvSpPr>
        <p:spPr>
          <a:xfrm>
            <a:off x="8074152" y="1207008"/>
            <a:ext cx="32918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Generic by construction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8074152" y="1572768"/>
            <a:ext cx="32918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Scholarship, licence/NOC and farmer subsidy are three callers. Journey 3 is catalog configuration, not a new Java module.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411480" y="2788920"/>
            <a:ext cx="11338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4561A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411480" y="3063240"/>
            <a:ext cx="1133856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Citizen facts (income, caste, 7/12, marks, fire NOC) are issued once by the department of record — then reused under consent.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Connectors speak the department’s protocol (REST / SOAP / SFTP / JDBC). DigiLocker is a consent pipe for issued copies, not the source of truth.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One tracking reference across departments; officer desk retries when a source is down; audit proves what was asked, never a stored payload.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411480" y="4343400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4561A"/>
                </a:solidFill>
                <a:latin typeface="Arial"/>
              </a:rPr>
              <a:t>Innovation / uniqueness</a:t>
            </a:r>
          </a:p>
        </p:txBody>
      </p:sp>
      <p:sp>
        <p:nvSpPr>
          <p:cNvPr id="15378" name="TextBox 15377"/>
          <p:cNvSpPr txBox="1"/>
          <p:nvPr/>
        </p:nvSpPr>
        <p:spPr>
          <a:xfrm>
            <a:off x="411480" y="4590288"/>
            <a:ext cx="1133856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Control plane decides, data plane moves — no fetch without a 60-second, single-use access grant (typed, not a convention).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Federated by default: pointers in the registry, live fetch, provenance on every field (“₹1,85,000 — Tahsildar Haveli”).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Machines propose, humans dispose: probabilistic identity matches never auto-link. Build-time Modulith/ArchUnit fail illegal module edges.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-109728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E4A"/>
          </a:solidFill>
          <a:ln>
            <a:solidFill>
              <a:srgbClr val="0B2E4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Samanvay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07899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4561A"/>
                </a:solidFill>
                <a:latin typeface="Arial"/>
              </a:rPr>
              <a:t>Stack (working prototype on this laptop)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353312"/>
            <a:ext cx="1783080" cy="71323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84632" y="1426464"/>
            <a:ext cx="167335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Java 21 · Boot 4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84632" y="1737360"/>
            <a:ext cx="167335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3D4A54"/>
                </a:solidFill>
                <a:latin typeface="Arial"/>
              </a:rPr>
              <a:t>Spring Modulith core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2331720" y="1353312"/>
            <a:ext cx="1783080" cy="71323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2404872" y="1426464"/>
            <a:ext cx="167335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Postgres 16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2404872" y="1737360"/>
            <a:ext cx="167335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3D4A54"/>
                </a:solidFill>
                <a:latin typeface="Arial"/>
              </a:rPr>
              <a:t>Flyway · interop state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251960" y="1353312"/>
            <a:ext cx="1783080" cy="71323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4325112" y="1426464"/>
            <a:ext cx="167335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REST SOAP SFTP JDBC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325112" y="1737360"/>
            <a:ext cx="167335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3D4A54"/>
                </a:solidFill>
                <a:latin typeface="Arial"/>
              </a:rPr>
              <a:t>protocol adapters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172200" y="1353312"/>
            <a:ext cx="1783080" cy="71323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245352" y="1426464"/>
            <a:ext cx="167335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BPMN 2.0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6245352" y="1737360"/>
            <a:ext cx="167335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3D4A54"/>
                </a:solidFill>
                <a:latin typeface="Arial"/>
              </a:rPr>
              <a:t>Flowable behind a port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8092440" y="1353312"/>
            <a:ext cx="1783080" cy="71323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8165592" y="1426464"/>
            <a:ext cx="167335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Keycloak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8165592" y="1737360"/>
            <a:ext cx="167335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3D4A54"/>
                </a:solidFill>
                <a:latin typeface="Arial"/>
              </a:rPr>
              <a:t>OIDC / IdP brokering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10012680" y="1353312"/>
            <a:ext cx="1783080" cy="71323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10085832" y="1426464"/>
            <a:ext cx="167335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2E4A"/>
                </a:solidFill>
                <a:latin typeface="Arial"/>
              </a:rPr>
              <a:t>Resilience4j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10085832" y="1737360"/>
            <a:ext cx="167335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3D4A54"/>
                </a:solidFill>
                <a:latin typeface="Arial"/>
              </a:rPr>
              <a:t>timeout · circuit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11480" y="2176272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4561A"/>
                </a:solidFill>
                <a:latin typeface="Arial"/>
              </a:rPr>
              <a:t>Methodology — departments issue; Samanvay orchestrates the pull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365760" y="24688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457200" y="2578608"/>
            <a:ext cx="2423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Citizen portals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57200" y="2926080"/>
            <a:ext cx="24231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Scholarship / Licence / Farmer</a:t>
            </a:r>
          </a:p>
        </p:txBody>
      </p:sp>
      <p:sp>
        <p:nvSpPr>
          <p:cNvPr id="17434" name="Right Arrow 17433"/>
          <p:cNvSpPr/>
          <p:nvPr/>
        </p:nvSpPr>
        <p:spPr>
          <a:xfrm>
            <a:off x="3008376" y="2816352"/>
            <a:ext cx="256032" cy="256032"/>
          </a:xfrm>
          <a:prstGeom prst="rightArrow">
            <a:avLst/>
          </a:prstGeom>
          <a:solidFill>
            <a:srgbClr val="C45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ounded Rectangle 17434"/>
          <p:cNvSpPr/>
          <p:nvPr/>
        </p:nvSpPr>
        <p:spPr>
          <a:xfrm>
            <a:off x="3291840" y="24688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0B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3383280" y="2578608"/>
            <a:ext cx="2423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Samanvay control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3383280" y="2926080"/>
            <a:ext cx="24231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identity · consent · catalog · registry</a:t>
            </a:r>
          </a:p>
        </p:txBody>
      </p:sp>
      <p:sp>
        <p:nvSpPr>
          <p:cNvPr id="17438" name="Right Arrow 17437"/>
          <p:cNvSpPr/>
          <p:nvPr/>
        </p:nvSpPr>
        <p:spPr>
          <a:xfrm>
            <a:off x="5934456" y="2816352"/>
            <a:ext cx="256032" cy="256032"/>
          </a:xfrm>
          <a:prstGeom prst="rightArrow">
            <a:avLst/>
          </a:prstGeom>
          <a:solidFill>
            <a:srgbClr val="C45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Rounded Rectangle 17438"/>
          <p:cNvSpPr/>
          <p:nvPr/>
        </p:nvSpPr>
        <p:spPr>
          <a:xfrm>
            <a:off x="6217920" y="24688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0B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6309360" y="2578608"/>
            <a:ext cx="2423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Samanvay data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309360" y="2926080"/>
            <a:ext cx="24231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connector · orchestration · tracking</a:t>
            </a:r>
          </a:p>
        </p:txBody>
      </p:sp>
      <p:sp>
        <p:nvSpPr>
          <p:cNvPr id="17442" name="Right Arrow 17441"/>
          <p:cNvSpPr/>
          <p:nvPr/>
        </p:nvSpPr>
        <p:spPr>
          <a:xfrm>
            <a:off x="8860536" y="2816352"/>
            <a:ext cx="256032" cy="256032"/>
          </a:xfrm>
          <a:prstGeom prst="rightArrow">
            <a:avLst/>
          </a:prstGeom>
          <a:solidFill>
            <a:srgbClr val="C45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Rounded Rectangle 17442"/>
          <p:cNvSpPr/>
          <p:nvPr/>
        </p:nvSpPr>
        <p:spPr>
          <a:xfrm>
            <a:off x="9144000" y="24688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9235440" y="2578608"/>
            <a:ext cx="2423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Issuers (SoR)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9235440" y="2926080"/>
            <a:ext cx="24231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Arial"/>
              </a:rPr>
              <a:t>Aaple Sarkar · Bhulekh · Fire · MPCB · MahaDBT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411480" y="3566160"/>
            <a:ext cx="1133856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Process: consent + identity link  →  signed 60s grant  →  adapter fetch (live, not stored)  →  canonical map + provenance  →  track / officer / audit.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DigiLocker (production): MeitY partner API after Aadhaar consent lists issued URIs. Departments push copies; locker is not a login into Fire that then dumps 7/12.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Demo now: labelled DigiLocker sandbox + mock issuer adapters. Offline compose. P5 sequence — Journey 1 concrete, Journey 2 generalizes, Journey 3 is config.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Working prototype: three portal skins, officer retry, issued-record papers, tamper-evident audit explorer.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-109728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E4A"/>
          </a:solidFill>
          <a:ln>
            <a:solidFill>
              <a:srgbClr val="0B2E4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Samanvay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65760" y="1170432"/>
            <a:ext cx="3611880" cy="470916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365760" y="1170432"/>
            <a:ext cx="3611880" cy="438912"/>
          </a:xfrm>
          <a:prstGeom prst="rect">
            <a:avLst/>
          </a:prstGeom>
          <a:solidFill>
            <a:srgbClr val="0B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75488" y="1243584"/>
            <a:ext cx="34290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Feasible now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12064" y="1737360"/>
            <a:ext cx="3355848" cy="4206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Core already runs: Java 21 / Boot 4 / Postgres / three journeys.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Heterogeneous mocks are the proof (SOAP, REST, JDBC, SFTP path).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PS constraint met: no replacement of existing department systems.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Onboarding a journey is catalog + connectors, not a rewrite.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Demo is fully offline — venue network is not a dependency.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206240" y="1170432"/>
            <a:ext cx="3611880" cy="470916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ectangle 17415"/>
          <p:cNvSpPr/>
          <p:nvPr/>
        </p:nvSpPr>
        <p:spPr>
          <a:xfrm>
            <a:off x="4206240" y="1170432"/>
            <a:ext cx="3611880" cy="438912"/>
          </a:xfrm>
          <a:prstGeom prst="rect">
            <a:avLst/>
          </a:prstGeom>
          <a:solidFill>
            <a:srgbClr val="C45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4315968" y="1243584"/>
            <a:ext cx="34290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Challenges / risks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352544" y="1737360"/>
            <a:ext cx="3355848" cy="4206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Live DigiLocker / Aadhaar needs a MeitY partner account (not on this laptop).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Real department APIs need MoU / NIC / department credentials.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Keycloak brokering and BPMN depth are fiddly in production.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Probabilistic identity merge is unsafe if auto-applied.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Officer queues and SLA if a source stays down.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046720" y="1170432"/>
            <a:ext cx="3611880" cy="470916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ectangle 17419"/>
          <p:cNvSpPr/>
          <p:nvPr/>
        </p:nvSpPr>
        <p:spPr>
          <a:xfrm>
            <a:off x="8046720" y="1170432"/>
            <a:ext cx="3611880" cy="438912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8156448" y="1243584"/>
            <a:ext cx="34290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How we overcome them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8193024" y="1737360"/>
            <a:ext cx="3355848" cy="4206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Sandbox labelled as sandbox; issuer mocks stand in for SoR APIs.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WorkflowEngine port: BPMN today, YAML DAG fallback in ~2 days.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CHECK + service + RBAC: probabilistic match never becomes an active link.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Degraded mode + officer retry (Revenue unavailable in demo).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•  Recorded backup walkthrough if live demo fails.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-109728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E4A"/>
          </a:solidFill>
          <a:ln>
            <a:solidFill>
              <a:srgbClr val="0B2E4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Samanvay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65760" y="1115568"/>
            <a:ext cx="5623560" cy="14447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225296"/>
            <a:ext cx="5257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Citizens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572768"/>
            <a:ext cx="5257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One issued income / caste / 7/12 / marksheet reused across services. One reference number. Consent that can be revoked — next fetch denied; nothing to purge.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217920" y="1115568"/>
            <a:ext cx="5623560" cy="14447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1225296"/>
            <a:ext cx="5257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Officers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00800" y="1572768"/>
            <a:ext cx="5257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One file, not three portals. See which issuer answered. Retry a down department without restarting the citizen journey.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65760" y="2688336"/>
            <a:ext cx="5623560" cy="14447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548640" y="2798064"/>
            <a:ext cx="5257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Departments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48640" y="3145536"/>
            <a:ext cx="5257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Keep their system of record. Plug in via adapter + mapping. A new scheme is configuration (farmer subsidy already demonstrates this).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217920" y="2688336"/>
            <a:ext cx="5623560" cy="14447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6400800" y="2798064"/>
            <a:ext cx="5257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State / economic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400800" y="3145536"/>
            <a:ext cx="5257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Avoid a fourth silo or a central data lake. Interoperability layer is cheaper to extend than N×N bilateral integrations.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65760" y="4261104"/>
            <a:ext cx="5623560" cy="14447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548640" y="4370832"/>
            <a:ext cx="5257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Social / privacy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48640" y="4718304"/>
            <a:ext cx="5257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Sensitive discovery (e.g. caste pointer) is consent-gated. Provenance on every field. Tamper-evident audit for RTI / inquiry.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217920" y="4261104"/>
            <a:ext cx="5623560" cy="1444752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6400800" y="4370832"/>
            <a:ext cx="5257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B2E4A"/>
                </a:solidFill>
                <a:latin typeface="Arial"/>
              </a:rPr>
              <a:t>Environment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6400800" y="4718304"/>
            <a:ext cx="52578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A54"/>
                </a:solidFill>
                <a:latin typeface="Arial"/>
              </a:rPr>
              <a:t>Fewer duplicate physical certificates and counter visits; digital reuse of already-issued records.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-109728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B2E4A"/>
          </a:solidFill>
          <a:ln>
            <a:solidFill>
              <a:srgbClr val="0B2E4A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Samanvay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365760" y="1115568"/>
            <a:ext cx="5623560" cy="498348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6126480" y="1115568"/>
            <a:ext cx="5623560" cy="498348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12700">
            <a:solidFill>
              <a:srgbClr val="D4CB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30352" y="1261872"/>
            <a:ext cx="5303520" cy="4709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Problem &amp; policy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SIH26129 — GoM / MSINS: interoperability without replacing existing systems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India Stack / DEPA-style consent artefacts (purpose, requester, revoke)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MeitY DigiLocker issued-document model (issuer push + citizen pull)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Maharashtra systems of record (not scraped; adapted)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Aaple Sarkar — aaplesarkar.mahaonline.gov.in — income / caste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Mahabhulekh — bhulekh.mahabhumi.gov.in — 7/12 Record of Rights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MahaDBT — mahadbt.maharashtra.gov.in — scholarship / farmer DBT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Fire e-approval — mahafireservice.gov.in/e-fire.php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MAITRI / MPCB — maitri.maharashtra.gov.in — pollution consent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MahaVastu / BPMS — mahavastu.maharashtra.gov.in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291072" y="1261872"/>
            <a:ext cx="5303520" cy="4709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Standards we implement against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BPMN 2.0 for cross-department journeys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OIDC / SAML via Keycloak identity brokering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REST, SOAP/XML, SFTP/CSV, JDBC (legacy without an API)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JSON Schema canonical model + JSONPath mapping DSL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Hash-chained audit (tamper-evident ledger)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This prototype (design + code)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docs/architecture/HLD.md and LLD.md in the Samanvay repo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docs/demo/ONE_PAGER.md · JUDGE_SCRIPT.md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 github.com/himanshu2394i/samanvay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Honest demo boundary: issuer APIs and DigiLocker partner credentials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are mocked / sandboxed until departments and MeitY onboard.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