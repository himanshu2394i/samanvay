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700" b="1">
                <a:solidFill>
                  <a:srgbClr val="1A1A1A"/>
                </a:solidFill>
                <a:latin typeface="Arial"/>
              </a:rPr>
              <a:t>Problem Statement ID — SIH26129</a:t>
            </a:r>
            <a:endParaRPr lang="en-US" dirty="0"/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Problem Statement Title — System integration and interoperability among</a:t>
            </a:r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government digital platforms, resulting in fragmented service delivery</a:t>
            </a:r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Theme — Miscellaneous</a:t>
            </a:r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Organisation — Government of Maharashtra</a:t>
            </a:r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PS Category — Software</a:t>
            </a:r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Team ID — (fill from SIH portal after nomination)</a:t>
            </a:r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Team Name (Registered on portal) — Samanvay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 wrap="square"/>
          <a:lstStyle/>
          <a:p>
            <a:pPr eaLnBrk="1" hangingPunct="1"/>
            <a:r>
              <a:rPr sz="2200" b="1">
                <a:solidFill>
                  <a:srgbClr val="0B2E4A"/>
                </a:solidFill>
                <a:latin typeface="Arial"/>
              </a:rPr>
              <a:t>SAMANVAY — FEDERATED INTEROPERABILITY LAYER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0972800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E4A"/>
          </a:solidFill>
          <a:ln>
            <a:solidFill>
              <a:srgbClr val="0B2E4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Samanvay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1115568"/>
            <a:ext cx="3566160" cy="1572768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ectangle 15363"/>
          <p:cNvSpPr/>
          <p:nvPr/>
        </p:nvSpPr>
        <p:spPr>
          <a:xfrm>
            <a:off x="411480" y="1115568"/>
            <a:ext cx="109728" cy="1572768"/>
          </a:xfrm>
          <a:prstGeom prst="rect">
            <a:avLst/>
          </a:prstGeom>
          <a:solidFill>
            <a:srgbClr val="C45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612648" y="1207008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Not a new portal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612648" y="1572768"/>
            <a:ext cx="32918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Sits between existing Maharashtra systems. Does not replace Aaple Sarkar, Mahabhulekh, MahaDBT, Fire e-approval or MPCB/MAITRI.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4142232" y="1115568"/>
            <a:ext cx="3566160" cy="1572768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Rectangle 15367"/>
          <p:cNvSpPr/>
          <p:nvPr/>
        </p:nvSpPr>
        <p:spPr>
          <a:xfrm>
            <a:off x="4142232" y="1115568"/>
            <a:ext cx="109728" cy="157276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4343400" y="1207008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Does not store papers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343400" y="1572768"/>
            <a:ext cx="32918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Certificates stay with the issuer. Samanvay owns links, consent, catalog, pointers, workflow, tracking, hash-chained audit.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7872984" y="1115568"/>
            <a:ext cx="3566160" cy="1572768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ectangle 15371"/>
          <p:cNvSpPr/>
          <p:nvPr/>
        </p:nvSpPr>
        <p:spPr>
          <a:xfrm>
            <a:off x="7872984" y="1115568"/>
            <a:ext cx="109728" cy="1572768"/>
          </a:xfrm>
          <a:prstGeom prst="rect">
            <a:avLst/>
          </a:prstGeom>
          <a:solidFill>
            <a:srgbClr val="0B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TextBox 15372"/>
          <p:cNvSpPr txBox="1"/>
          <p:nvPr/>
        </p:nvSpPr>
        <p:spPr>
          <a:xfrm>
            <a:off x="8074152" y="1207008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Generic by construction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8074152" y="1572768"/>
            <a:ext cx="32918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Scholarship, licence/NOC and farmer subsidy are three callers. Journey 3 is catalog configuration, not a new Java module.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411480" y="2788920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4561A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411480" y="3063240"/>
            <a:ext cx="1133856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Citizen facts (income, caste, 7/12, marks, fire NOC) are issued once by the department of record — then reused under consent.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Connectors speak the department’s protocol (REST / SOAP / SFTP / JDBC). DigiLocker is a consent pipe for issued copies, not the source of truth.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One tracking reference across departments; officer desk retries when a source is down; audit proves what was asked, never a stored payload.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411480" y="434340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4561A"/>
                </a:solidFill>
                <a:latin typeface="Arial"/>
              </a:rPr>
              <a:t>Innovation / uniqueness</a:t>
            </a:r>
          </a:p>
        </p:txBody>
      </p:sp>
      <p:sp>
        <p:nvSpPr>
          <p:cNvPr id="15378" name="TextBox 15377"/>
          <p:cNvSpPr txBox="1"/>
          <p:nvPr/>
        </p:nvSpPr>
        <p:spPr>
          <a:xfrm>
            <a:off x="411480" y="4590288"/>
            <a:ext cx="1133856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Control plane decides, data plane moves — no fetch without a 60-second, single-use access grant (typed, not a convention).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Federated by default: pointers in the registry, live fetch, provenance on every field (“₹1,85,000 — Tahsildar Haveli”).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Machines propose, humans dispose: probabilistic identity matches never auto-link. Build-time Modulith/ArchUnit fail illegal module edges.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-109728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E4A"/>
          </a:solidFill>
          <a:ln>
            <a:solidFill>
              <a:srgbClr val="0B2E4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Samanvay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47472" y="1024128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4561A"/>
                </a:solidFill>
                <a:latin typeface="Arial"/>
              </a:rPr>
              <a:t>Stack  ·  Java 21 / Spring Boot 4 / Modulith  ·  Postgres 16  ·  BPMN 2.0  ·  Keycloak  ·  Resilience4j  ·  REST · SOAP · SFTP · JDBC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47472" y="1261872"/>
            <a:ext cx="3657600" cy="5303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02336" y="1307592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Scholarship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02336" y="1517904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3D4A54"/>
                </a:solidFill>
                <a:latin typeface="Arial"/>
              </a:rPr>
              <a:t>Revenue · Education · DBT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187952" y="1261872"/>
            <a:ext cx="3657600" cy="5303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242816" y="1307592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Licence / NOC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242816" y="1517904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3D4A54"/>
                </a:solidFill>
                <a:latin typeface="Arial"/>
              </a:rPr>
              <a:t>Municipal · Fire · MPCB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028432" y="1261872"/>
            <a:ext cx="3657600" cy="5303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8083296" y="1307592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Farmer subsidy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8083296" y="1517904"/>
            <a:ext cx="3566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3D4A54"/>
                </a:solidFill>
                <a:latin typeface="Arial"/>
              </a:rPr>
              <a:t>Land · Agri · DBT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47472" y="1901952"/>
            <a:ext cx="11475720" cy="2852928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ectangle 17421"/>
          <p:cNvSpPr/>
          <p:nvPr/>
        </p:nvSpPr>
        <p:spPr>
          <a:xfrm>
            <a:off x="347472" y="1901952"/>
            <a:ext cx="11475720" cy="347472"/>
          </a:xfrm>
          <a:prstGeom prst="rect">
            <a:avLst/>
          </a:prstGeom>
          <a:solidFill>
            <a:srgbClr val="0B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457200" y="1938528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SAMANVAY CORE  —  one Spring Boot deployable  ·  modules enforced at build (Modulith + ArchUnit)  ·  payload never persisted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75488" y="2340864"/>
            <a:ext cx="5074920" cy="1572768"/>
          </a:xfrm>
          <a:prstGeom prst="roundRect">
            <a:avLst>
              <a:gd name="adj" fmla="val 8000"/>
            </a:avLst>
          </a:prstGeom>
          <a:solidFill>
            <a:srgbClr val="0B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585216" y="2395728"/>
            <a:ext cx="48463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CONTROL PLANE  —  decides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585216" y="2651760"/>
            <a:ext cx="48463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identity   citizen links  ·  no auto-merge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consent    purpose  ·  revoke  ·  issues the grant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catalog    departments  ·  schemas  ·  journeys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registry   pointers only  —  what exists where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601968" y="2340864"/>
            <a:ext cx="5074920" cy="1572768"/>
          </a:xfrm>
          <a:prstGeom prst="roundRect">
            <a:avLst>
              <a:gd name="adj" fmla="val 8000"/>
            </a:avLst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6711696" y="2395728"/>
            <a:ext cx="48463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DATA PLANE  —  moves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711696" y="2651760"/>
            <a:ext cx="48463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orchestration   BPMN journey  ·  retry / degrade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connector       adapters + mapping DSL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tracking        one reference number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notifications   events  ·  citizen / officer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5632704" y="2907792"/>
            <a:ext cx="877824" cy="384048"/>
          </a:xfrm>
          <a:prstGeom prst="rightArrow">
            <a:avLst/>
          </a:prstGeom>
          <a:solidFill>
            <a:srgbClr val="C45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TextBox 17430"/>
          <p:cNvSpPr txBox="1"/>
          <p:nvPr/>
        </p:nvSpPr>
        <p:spPr>
          <a:xfrm>
            <a:off x="5596128" y="3310128"/>
            <a:ext cx="96012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C4561A"/>
                </a:solidFill>
                <a:latin typeface="Arial"/>
              </a:rPr>
              <a:t>60s grant</a:t>
            </a:r>
          </a:p>
          <a:p>
            <a:pPr algn="ctr">
              <a:spcAft>
                <a:spcPts val="400"/>
              </a:spcAft>
            </a:pPr>
            <a:r>
              <a:rPr sz="900" b="1">
                <a:solidFill>
                  <a:srgbClr val="C4561A"/>
                </a:solidFill>
                <a:latin typeface="Arial"/>
              </a:rPr>
              <a:t>single-use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75488" y="4005072"/>
            <a:ext cx="11201400" cy="621792"/>
          </a:xfrm>
          <a:prstGeom prst="roundRect">
            <a:avLst>
              <a:gd name="adj" fmla="val 8000"/>
            </a:avLst>
          </a:prstGeom>
          <a:solidFill>
            <a:srgbClr val="F3E6D8"/>
          </a:solidFill>
          <a:ln w="12700">
            <a:solidFill>
              <a:srgbClr val="C45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585216" y="4059936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4561A"/>
                </a:solidFill>
                <a:latin typeface="Arial"/>
              </a:rPr>
              <a:t>CROSS-CUTTING AUDIT  —  hash-chained ledger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85216" y="4297680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Every grant, fetch, retry, consent revoke. Tamper a row → chain verify fails. Live fetch with provenance; certificates stay at the issuer.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347472" y="4828032"/>
            <a:ext cx="114300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4561A"/>
                </a:solidFill>
                <a:latin typeface="Arial"/>
              </a:rPr>
              <a:t>Issuers stay systems of record  —  fetch on demand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47472" y="5029200"/>
            <a:ext cx="1828800" cy="5303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402336" y="50749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Aaple Sarkar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02336" y="5285232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3D4A54"/>
                </a:solidFill>
                <a:latin typeface="Arial"/>
              </a:rPr>
              <a:t>SOAP / REST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2267712" y="5029200"/>
            <a:ext cx="1828800" cy="5303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2322576" y="50749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Mahabhulekh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2322576" y="5285232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3D4A54"/>
                </a:solidFill>
                <a:latin typeface="Arial"/>
              </a:rPr>
              <a:t>7/12 land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187952" y="5029200"/>
            <a:ext cx="1828800" cy="5303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4242816" y="50749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Fire e-approval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4242816" y="5285232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3D4A54"/>
                </a:solidFill>
                <a:latin typeface="Arial"/>
              </a:rPr>
              <a:t>NOC API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6108192" y="5029200"/>
            <a:ext cx="1828800" cy="5303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6163056" y="50749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MPCB / MAITRI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163056" y="5285232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3D4A54"/>
                </a:solidFill>
                <a:latin typeface="Arial"/>
              </a:rPr>
              <a:t>JDBC / REST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8028432" y="5029200"/>
            <a:ext cx="1828800" cy="5303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TextBox 17448"/>
          <p:cNvSpPr txBox="1"/>
          <p:nvPr/>
        </p:nvSpPr>
        <p:spPr>
          <a:xfrm>
            <a:off x="8083296" y="50749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MahaDBT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8083296" y="5285232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3D4A54"/>
                </a:solidFill>
                <a:latin typeface="Arial"/>
              </a:rPr>
              <a:t>REST + OAuth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9948672" y="5029200"/>
            <a:ext cx="1828800" cy="5303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TextBox 17451"/>
          <p:cNvSpPr txBox="1"/>
          <p:nvPr/>
        </p:nvSpPr>
        <p:spPr>
          <a:xfrm>
            <a:off x="10003536" y="50749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DigiLocker*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10003536" y="5285232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3D4A54"/>
                </a:solidFill>
                <a:latin typeface="Arial"/>
              </a:rPr>
              <a:t>consent pipe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347472" y="5596128"/>
            <a:ext cx="11430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D4A54"/>
                </a:solidFill>
                <a:latin typeface="Arial"/>
              </a:rPr>
              <a:t>Path: identity link + consent → signed grant → adapter fetch (not stored) → canonical map → track / officer.  *DigiLocker carries issued copies; it is not a department login. Demo uses labelled sandbox + mock adapters.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-109728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E4A"/>
          </a:solidFill>
          <a:ln>
            <a:solidFill>
              <a:srgbClr val="0B2E4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Samanvay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65760" y="1170432"/>
            <a:ext cx="3611880" cy="470916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365760" y="1170432"/>
            <a:ext cx="3611880" cy="438912"/>
          </a:xfrm>
          <a:prstGeom prst="rect">
            <a:avLst/>
          </a:prstGeom>
          <a:solidFill>
            <a:srgbClr val="0B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75488" y="1243584"/>
            <a:ext cx="34290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Feasible now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12064" y="1737360"/>
            <a:ext cx="3355848" cy="4206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Core already runs: Java 21 / Boot 4 / Postgres / three journeys.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Heterogeneous mocks are the proof (SOAP, REST, JDBC, SFTP path).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PS constraint met: no replacement of existing department systems.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Onboarding a journey is catalog + connectors, not a rewrite.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Demo is fully offline — venue network is not a dependency.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06240" y="1170432"/>
            <a:ext cx="3611880" cy="470916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ectangle 17415"/>
          <p:cNvSpPr/>
          <p:nvPr/>
        </p:nvSpPr>
        <p:spPr>
          <a:xfrm>
            <a:off x="4206240" y="1170432"/>
            <a:ext cx="3611880" cy="438912"/>
          </a:xfrm>
          <a:prstGeom prst="rect">
            <a:avLst/>
          </a:prstGeom>
          <a:solidFill>
            <a:srgbClr val="C45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4315968" y="1243584"/>
            <a:ext cx="34290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Challenges / risks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52544" y="1737360"/>
            <a:ext cx="3355848" cy="4206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Live DigiLocker / Aadhaar needs a MeitY partner account (not on this laptop).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Real department APIs need MoU / NIC / department credentials.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Keycloak brokering and BPMN depth are fiddly in production.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Probabilistic identity merge is unsafe if auto-applied.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Officer queues and SLA if a source stays down.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046720" y="1170432"/>
            <a:ext cx="3611880" cy="470916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ectangle 17419"/>
          <p:cNvSpPr/>
          <p:nvPr/>
        </p:nvSpPr>
        <p:spPr>
          <a:xfrm>
            <a:off x="8046720" y="1170432"/>
            <a:ext cx="3611880" cy="43891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8156448" y="1243584"/>
            <a:ext cx="34290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How we overcome them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8193024" y="1737360"/>
            <a:ext cx="3355848" cy="4206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Sandbox labelled as sandbox; issuer mocks stand in for SoR APIs.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WorkflowEngine port: BPMN today, YAML DAG fallback in ~2 days.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CHECK + service + RBAC: probabilistic match never becomes an active link.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Degraded mode + officer retry (Revenue unavailable in demo).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Recorded backup walkthrough if live demo fails.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-109728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E4A"/>
          </a:solidFill>
          <a:ln>
            <a:solidFill>
              <a:srgbClr val="0B2E4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Samanvay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65760" y="1115568"/>
            <a:ext cx="5623560" cy="14447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225296"/>
            <a:ext cx="5257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Citizens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572768"/>
            <a:ext cx="5257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One issued income / caste / 7/12 / marksheet reused across services. One reference number. Consent that can be revoked — next fetch denied; nothing to purge.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217920" y="1115568"/>
            <a:ext cx="5623560" cy="14447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1225296"/>
            <a:ext cx="5257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Officers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800" y="1572768"/>
            <a:ext cx="5257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One file, not three portals. See which issuer answered. Retry a down department without restarting the citizen journey.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60" y="2688336"/>
            <a:ext cx="5623560" cy="14447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548640" y="2798064"/>
            <a:ext cx="5257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Departments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48640" y="3145536"/>
            <a:ext cx="5257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Keep their system of record. Plug in via adapter + mapping. A new scheme is configuration (farmer subsidy already demonstrates this).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217920" y="2688336"/>
            <a:ext cx="5623560" cy="14447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6400800" y="2798064"/>
            <a:ext cx="5257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State / economic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400800" y="3145536"/>
            <a:ext cx="5257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Avoid a fourth silo or a central data lake. Interoperability layer is cheaper to extend than N×N bilateral integrations.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65760" y="4261104"/>
            <a:ext cx="5623560" cy="14447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548640" y="4370832"/>
            <a:ext cx="5257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Social / privacy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48640" y="4718304"/>
            <a:ext cx="5257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Sensitive discovery (e.g. caste pointer) is consent-gated. Provenance on every field. Tamper-evident audit for RTI / inquiry.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217920" y="4261104"/>
            <a:ext cx="5623560" cy="14447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6400800" y="4370832"/>
            <a:ext cx="5257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Environment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400800" y="4718304"/>
            <a:ext cx="5257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Fewer duplicate physical certificates and counter visits; digital reuse of already-issued records.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-109728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E4A"/>
          </a:solidFill>
          <a:ln>
            <a:solidFill>
              <a:srgbClr val="0B2E4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Samanvay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65760" y="1115568"/>
            <a:ext cx="5623560" cy="498348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6126480" y="1115568"/>
            <a:ext cx="5623560" cy="498348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30352" y="1261872"/>
            <a:ext cx="530352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Problem &amp; policy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SIH26129 — GoM / MSINS: interoperability without replacing existing systems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India Stack / DEPA-style consent artefacts (purpose, requester, revoke)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MeitY DigiLocker issued-document model (issuer push + citizen pull)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Maharashtra systems of record (not scraped; adapted)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Aaple Sarkar — aaplesarkar.mahaonline.gov.in — income / caste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Mahabhulekh — bhulekh.mahabhumi.gov.in — 7/12 Record of Rights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MahaDBT — mahadbt.maharashtra.gov.in — scholarship / farmer DBT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Fire e-approval — mahafireservice.gov.in/e-fire.php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MAITRI / MPCB — maitri.maharashtra.gov.in — pollution consent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MahaVastu / BPMS — mahavastu.maharashtra.gov.in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291072" y="1261872"/>
            <a:ext cx="530352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Standards we implement against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BPMN 2.0 for cross-department journeys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OIDC / SAML via Keycloak identity brokering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REST, SOAP/XML, SFTP/CSV, JDBC (legacy without an API)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JSON Schema canonical model + JSONPath mapping DSL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Hash-chained audit (tamper-evident ledger)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This prototype (design + code)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docs/architecture/HLD.md and LLD.md in the Samanvay repo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docs/demo/ONE_PAGER.md · JUDGE_SCRIPT.md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github.com/himanshu2394i/samanvay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Honest demo boundary: issuer APIs and DigiLocker partner credentials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are mocked / sandboxed until departments and MeitY onboard.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